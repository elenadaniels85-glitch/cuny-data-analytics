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8" r:id="rId5"/>
    <p:sldId id="269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080" autoAdjust="0"/>
  </p:normalViewPr>
  <p:slideViewPr>
    <p:cSldViewPr snapToGrid="0" snapToObjects="1">
      <p:cViewPr varScale="1">
        <p:scale>
          <a:sx n="69" d="100"/>
          <a:sy n="69" d="100"/>
        </p:scale>
        <p:origin x="1425" y="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68" d="100"/>
          <a:sy n="68" d="100"/>
        </p:scale>
        <p:origin x="2592" y="4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B455C9-2281-40C1-89C8-839B6387008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DC5D7F97-AA4B-48BB-A219-0330E60486BE}">
      <dgm:prSet/>
      <dgm:spPr/>
      <dgm:t>
        <a:bodyPr/>
        <a:lstStyle/>
        <a:p>
          <a:r>
            <a:rPr lang="en-US" dirty="0"/>
            <a:t>Food safety compliance is not ideal across NYC restaurants</a:t>
          </a:r>
        </a:p>
      </dgm:t>
    </dgm:pt>
    <dgm:pt modelId="{BDA1729C-F8FD-4303-8428-37DD720374A2}" type="parTrans" cxnId="{F480A9ED-D422-4434-BF71-0EBF13B1DA37}">
      <dgm:prSet/>
      <dgm:spPr/>
      <dgm:t>
        <a:bodyPr/>
        <a:lstStyle/>
        <a:p>
          <a:endParaRPr lang="en-US"/>
        </a:p>
      </dgm:t>
    </dgm:pt>
    <dgm:pt modelId="{4D2972E9-C822-446F-8508-DBA5F026CABE}" type="sibTrans" cxnId="{F480A9ED-D422-4434-BF71-0EBF13B1DA37}">
      <dgm:prSet/>
      <dgm:spPr/>
      <dgm:t>
        <a:bodyPr/>
        <a:lstStyle/>
        <a:p>
          <a:endParaRPr lang="en-US"/>
        </a:p>
      </dgm:t>
    </dgm:pt>
    <dgm:pt modelId="{BDD84A44-B09A-4754-85EA-62E29CC9DB85}">
      <dgm:prSet/>
      <dgm:spPr/>
      <dgm:t>
        <a:bodyPr/>
        <a:lstStyle/>
        <a:p>
          <a:r>
            <a:rPr lang="en-US" dirty="0"/>
            <a:t>Inspection grading may not fully reflect real-time risk</a:t>
          </a:r>
        </a:p>
      </dgm:t>
    </dgm:pt>
    <dgm:pt modelId="{046FE1BC-1919-405E-BB14-1A77EF5CE2EB}" type="parTrans" cxnId="{C661EB66-7FCF-4AB6-9FAA-CD768DCA9DDD}">
      <dgm:prSet/>
      <dgm:spPr/>
      <dgm:t>
        <a:bodyPr/>
        <a:lstStyle/>
        <a:p>
          <a:endParaRPr lang="en-US"/>
        </a:p>
      </dgm:t>
    </dgm:pt>
    <dgm:pt modelId="{98F36CFA-9C1E-4D67-B296-DA186DD916DD}" type="sibTrans" cxnId="{C661EB66-7FCF-4AB6-9FAA-CD768DCA9DDD}">
      <dgm:prSet/>
      <dgm:spPr/>
      <dgm:t>
        <a:bodyPr/>
        <a:lstStyle/>
        <a:p>
          <a:endParaRPr lang="en-US"/>
        </a:p>
      </dgm:t>
    </dgm:pt>
    <dgm:pt modelId="{A176ADE6-D382-46AE-B50F-4FD46BF0FB90}">
      <dgm:prSet/>
      <dgm:spPr/>
      <dgm:t>
        <a:bodyPr/>
        <a:lstStyle/>
        <a:p>
          <a:r>
            <a:rPr lang="en-US" dirty="0"/>
            <a:t>More compliance is needed</a:t>
          </a:r>
        </a:p>
      </dgm:t>
    </dgm:pt>
    <dgm:pt modelId="{AB28A255-E5FA-49A4-B9AF-9851135ADA6B}" type="parTrans" cxnId="{5E719FE3-1FD5-44BD-861D-5620C8DF6E21}">
      <dgm:prSet/>
      <dgm:spPr/>
      <dgm:t>
        <a:bodyPr/>
        <a:lstStyle/>
        <a:p>
          <a:endParaRPr lang="en-US"/>
        </a:p>
      </dgm:t>
    </dgm:pt>
    <dgm:pt modelId="{24A6594F-25B0-4CF0-B300-FEA7EA3718BE}" type="sibTrans" cxnId="{5E719FE3-1FD5-44BD-861D-5620C8DF6E21}">
      <dgm:prSet/>
      <dgm:spPr/>
      <dgm:t>
        <a:bodyPr/>
        <a:lstStyle/>
        <a:p>
          <a:endParaRPr lang="en-US"/>
        </a:p>
      </dgm:t>
    </dgm:pt>
    <dgm:pt modelId="{53364401-C345-4A59-8019-E1E452656F85}" type="pres">
      <dgm:prSet presAssocID="{4CB455C9-2281-40C1-89C8-839B63870087}" presName="root" presStyleCnt="0">
        <dgm:presLayoutVars>
          <dgm:dir/>
          <dgm:resizeHandles val="exact"/>
        </dgm:presLayoutVars>
      </dgm:prSet>
      <dgm:spPr/>
    </dgm:pt>
    <dgm:pt modelId="{E3C147A9-988B-450A-800E-B87D607FEA2C}" type="pres">
      <dgm:prSet presAssocID="{DC5D7F97-AA4B-48BB-A219-0330E60486BE}" presName="compNode" presStyleCnt="0"/>
      <dgm:spPr/>
    </dgm:pt>
    <dgm:pt modelId="{DB31EC2D-DCC0-4062-AB0B-CD433524DA86}" type="pres">
      <dgm:prSet presAssocID="{DC5D7F97-AA4B-48BB-A219-0330E60486B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44EAD0D9-59DD-452D-9686-42DA52F82338}" type="pres">
      <dgm:prSet presAssocID="{DC5D7F97-AA4B-48BB-A219-0330E60486BE}" presName="spaceRect" presStyleCnt="0"/>
      <dgm:spPr/>
    </dgm:pt>
    <dgm:pt modelId="{1909CFB5-97FF-40C6-9E0D-38C9907B8BE0}" type="pres">
      <dgm:prSet presAssocID="{DC5D7F97-AA4B-48BB-A219-0330E60486BE}" presName="textRect" presStyleLbl="revTx" presStyleIdx="0" presStyleCnt="3">
        <dgm:presLayoutVars>
          <dgm:chMax val="1"/>
          <dgm:chPref val="1"/>
        </dgm:presLayoutVars>
      </dgm:prSet>
      <dgm:spPr/>
    </dgm:pt>
    <dgm:pt modelId="{71B763F7-8A9B-41D8-9B87-410A920766D9}" type="pres">
      <dgm:prSet presAssocID="{4D2972E9-C822-446F-8508-DBA5F026CABE}" presName="sibTrans" presStyleCnt="0"/>
      <dgm:spPr/>
    </dgm:pt>
    <dgm:pt modelId="{254ACA06-BC5D-4C66-97C8-B2D716D02CC7}" type="pres">
      <dgm:prSet presAssocID="{BDD84A44-B09A-4754-85EA-62E29CC9DB85}" presName="compNode" presStyleCnt="0"/>
      <dgm:spPr/>
    </dgm:pt>
    <dgm:pt modelId="{11BD29A7-B409-4CE0-9604-ED51E5F10AE0}" type="pres">
      <dgm:prSet presAssocID="{BDD84A44-B09A-4754-85EA-62E29CC9DB85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FD73EEF0-1865-4BD2-899D-2209347F5EE5}" type="pres">
      <dgm:prSet presAssocID="{BDD84A44-B09A-4754-85EA-62E29CC9DB85}" presName="spaceRect" presStyleCnt="0"/>
      <dgm:spPr/>
    </dgm:pt>
    <dgm:pt modelId="{E67FDEE4-B9F7-4DEB-8835-1589B5377423}" type="pres">
      <dgm:prSet presAssocID="{BDD84A44-B09A-4754-85EA-62E29CC9DB85}" presName="textRect" presStyleLbl="revTx" presStyleIdx="1" presStyleCnt="3">
        <dgm:presLayoutVars>
          <dgm:chMax val="1"/>
          <dgm:chPref val="1"/>
        </dgm:presLayoutVars>
      </dgm:prSet>
      <dgm:spPr/>
    </dgm:pt>
    <dgm:pt modelId="{70E7DA5A-9613-4C19-BFBE-066B2044B542}" type="pres">
      <dgm:prSet presAssocID="{98F36CFA-9C1E-4D67-B296-DA186DD916DD}" presName="sibTrans" presStyleCnt="0"/>
      <dgm:spPr/>
    </dgm:pt>
    <dgm:pt modelId="{9DE8D10A-E476-4CFA-AC82-5CF3473BD5BF}" type="pres">
      <dgm:prSet presAssocID="{A176ADE6-D382-46AE-B50F-4FD46BF0FB90}" presName="compNode" presStyleCnt="0"/>
      <dgm:spPr/>
    </dgm:pt>
    <dgm:pt modelId="{46D36E15-3A3A-4363-BFF3-58DD3142E0A1}" type="pres">
      <dgm:prSet presAssocID="{A176ADE6-D382-46AE-B50F-4FD46BF0FB9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8F0ED54-3498-4DDD-B406-9BABBD1B8DFA}" type="pres">
      <dgm:prSet presAssocID="{A176ADE6-D382-46AE-B50F-4FD46BF0FB90}" presName="spaceRect" presStyleCnt="0"/>
      <dgm:spPr/>
    </dgm:pt>
    <dgm:pt modelId="{501CE420-562F-477C-AA3C-8E891F7B9D88}" type="pres">
      <dgm:prSet presAssocID="{A176ADE6-D382-46AE-B50F-4FD46BF0FB9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3166A13-C887-4B3B-8091-341D25849E8A}" type="presOf" srcId="{BDD84A44-B09A-4754-85EA-62E29CC9DB85}" destId="{E67FDEE4-B9F7-4DEB-8835-1589B5377423}" srcOrd="0" destOrd="0" presId="urn:microsoft.com/office/officeart/2018/2/layout/IconLabelList"/>
    <dgm:cxn modelId="{DDD17D1A-429D-4C01-BD94-AB63972CA658}" type="presOf" srcId="{A176ADE6-D382-46AE-B50F-4FD46BF0FB90}" destId="{501CE420-562F-477C-AA3C-8E891F7B9D88}" srcOrd="0" destOrd="0" presId="urn:microsoft.com/office/officeart/2018/2/layout/IconLabelList"/>
    <dgm:cxn modelId="{C661EB66-7FCF-4AB6-9FAA-CD768DCA9DDD}" srcId="{4CB455C9-2281-40C1-89C8-839B63870087}" destId="{BDD84A44-B09A-4754-85EA-62E29CC9DB85}" srcOrd="1" destOrd="0" parTransId="{046FE1BC-1919-405E-BB14-1A77EF5CE2EB}" sibTransId="{98F36CFA-9C1E-4D67-B296-DA186DD916DD}"/>
    <dgm:cxn modelId="{7BE1CDB6-B5D1-4431-95BD-7FF470B73FD2}" type="presOf" srcId="{DC5D7F97-AA4B-48BB-A219-0330E60486BE}" destId="{1909CFB5-97FF-40C6-9E0D-38C9907B8BE0}" srcOrd="0" destOrd="0" presId="urn:microsoft.com/office/officeart/2018/2/layout/IconLabelList"/>
    <dgm:cxn modelId="{5E719FE3-1FD5-44BD-861D-5620C8DF6E21}" srcId="{4CB455C9-2281-40C1-89C8-839B63870087}" destId="{A176ADE6-D382-46AE-B50F-4FD46BF0FB90}" srcOrd="2" destOrd="0" parTransId="{AB28A255-E5FA-49A4-B9AF-9851135ADA6B}" sibTransId="{24A6594F-25B0-4CF0-B300-FEA7EA3718BE}"/>
    <dgm:cxn modelId="{20D4F2EB-7E2D-4DFB-BF5F-F28DF15F26B7}" type="presOf" srcId="{4CB455C9-2281-40C1-89C8-839B63870087}" destId="{53364401-C345-4A59-8019-E1E452656F85}" srcOrd="0" destOrd="0" presId="urn:microsoft.com/office/officeart/2018/2/layout/IconLabelList"/>
    <dgm:cxn modelId="{F480A9ED-D422-4434-BF71-0EBF13B1DA37}" srcId="{4CB455C9-2281-40C1-89C8-839B63870087}" destId="{DC5D7F97-AA4B-48BB-A219-0330E60486BE}" srcOrd="0" destOrd="0" parTransId="{BDA1729C-F8FD-4303-8428-37DD720374A2}" sibTransId="{4D2972E9-C822-446F-8508-DBA5F026CABE}"/>
    <dgm:cxn modelId="{2228DAF3-D940-44E8-B381-40A103CA8004}" type="presParOf" srcId="{53364401-C345-4A59-8019-E1E452656F85}" destId="{E3C147A9-988B-450A-800E-B87D607FEA2C}" srcOrd="0" destOrd="0" presId="urn:microsoft.com/office/officeart/2018/2/layout/IconLabelList"/>
    <dgm:cxn modelId="{A9ECC8B5-06BD-4D63-909F-77608F3203FB}" type="presParOf" srcId="{E3C147A9-988B-450A-800E-B87D607FEA2C}" destId="{DB31EC2D-DCC0-4062-AB0B-CD433524DA86}" srcOrd="0" destOrd="0" presId="urn:microsoft.com/office/officeart/2018/2/layout/IconLabelList"/>
    <dgm:cxn modelId="{CDAB0081-CE35-401C-A0FD-F7996437FF28}" type="presParOf" srcId="{E3C147A9-988B-450A-800E-B87D607FEA2C}" destId="{44EAD0D9-59DD-452D-9686-42DA52F82338}" srcOrd="1" destOrd="0" presId="urn:microsoft.com/office/officeart/2018/2/layout/IconLabelList"/>
    <dgm:cxn modelId="{A0B6447F-D3F4-4F20-8B80-6CE38AA2B477}" type="presParOf" srcId="{E3C147A9-988B-450A-800E-B87D607FEA2C}" destId="{1909CFB5-97FF-40C6-9E0D-38C9907B8BE0}" srcOrd="2" destOrd="0" presId="urn:microsoft.com/office/officeart/2018/2/layout/IconLabelList"/>
    <dgm:cxn modelId="{A217B9BD-D303-4C1A-8138-83D0BC5C97CF}" type="presParOf" srcId="{53364401-C345-4A59-8019-E1E452656F85}" destId="{71B763F7-8A9B-41D8-9B87-410A920766D9}" srcOrd="1" destOrd="0" presId="urn:microsoft.com/office/officeart/2018/2/layout/IconLabelList"/>
    <dgm:cxn modelId="{89AD4E96-D8FB-4E81-9095-E43A05EC4C7A}" type="presParOf" srcId="{53364401-C345-4A59-8019-E1E452656F85}" destId="{254ACA06-BC5D-4C66-97C8-B2D716D02CC7}" srcOrd="2" destOrd="0" presId="urn:microsoft.com/office/officeart/2018/2/layout/IconLabelList"/>
    <dgm:cxn modelId="{C5E58B77-B5A3-48C8-8C1D-5024235F2BF0}" type="presParOf" srcId="{254ACA06-BC5D-4C66-97C8-B2D716D02CC7}" destId="{11BD29A7-B409-4CE0-9604-ED51E5F10AE0}" srcOrd="0" destOrd="0" presId="urn:microsoft.com/office/officeart/2018/2/layout/IconLabelList"/>
    <dgm:cxn modelId="{737DF88D-7247-432F-9494-A04773C832A2}" type="presParOf" srcId="{254ACA06-BC5D-4C66-97C8-B2D716D02CC7}" destId="{FD73EEF0-1865-4BD2-899D-2209347F5EE5}" srcOrd="1" destOrd="0" presId="urn:microsoft.com/office/officeart/2018/2/layout/IconLabelList"/>
    <dgm:cxn modelId="{AE00854D-10D6-407D-B908-209D802FE968}" type="presParOf" srcId="{254ACA06-BC5D-4C66-97C8-B2D716D02CC7}" destId="{E67FDEE4-B9F7-4DEB-8835-1589B5377423}" srcOrd="2" destOrd="0" presId="urn:microsoft.com/office/officeart/2018/2/layout/IconLabelList"/>
    <dgm:cxn modelId="{07B67CDC-2F75-4B53-A854-3CAF404996DA}" type="presParOf" srcId="{53364401-C345-4A59-8019-E1E452656F85}" destId="{70E7DA5A-9613-4C19-BFBE-066B2044B542}" srcOrd="3" destOrd="0" presId="urn:microsoft.com/office/officeart/2018/2/layout/IconLabelList"/>
    <dgm:cxn modelId="{0C4B7FD6-614E-4F39-B650-2110634D193F}" type="presParOf" srcId="{53364401-C345-4A59-8019-E1E452656F85}" destId="{9DE8D10A-E476-4CFA-AC82-5CF3473BD5BF}" srcOrd="4" destOrd="0" presId="urn:microsoft.com/office/officeart/2018/2/layout/IconLabelList"/>
    <dgm:cxn modelId="{722C2A1B-A462-4625-8430-B50DEC8066D0}" type="presParOf" srcId="{9DE8D10A-E476-4CFA-AC82-5CF3473BD5BF}" destId="{46D36E15-3A3A-4363-BFF3-58DD3142E0A1}" srcOrd="0" destOrd="0" presId="urn:microsoft.com/office/officeart/2018/2/layout/IconLabelList"/>
    <dgm:cxn modelId="{3FC52EC8-01B0-4CF6-AF4B-1C4A9253EA15}" type="presParOf" srcId="{9DE8D10A-E476-4CFA-AC82-5CF3473BD5BF}" destId="{58F0ED54-3498-4DDD-B406-9BABBD1B8DFA}" srcOrd="1" destOrd="0" presId="urn:microsoft.com/office/officeart/2018/2/layout/IconLabelList"/>
    <dgm:cxn modelId="{A9E510DF-81EE-46DA-97BF-65CDF49890B5}" type="presParOf" srcId="{9DE8D10A-E476-4CFA-AC82-5CF3473BD5BF}" destId="{501CE420-562F-477C-AA3C-8E891F7B9D8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31EC2D-DCC0-4062-AB0B-CD433524DA86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09CFB5-97FF-40C6-9E0D-38C9907B8BE0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Food safety compliance is not ideal across NYC restaurants</a:t>
          </a:r>
        </a:p>
      </dsp:txBody>
      <dsp:txXfrm>
        <a:off x="78583" y="2435142"/>
        <a:ext cx="2399612" cy="720000"/>
      </dsp:txXfrm>
    </dsp:sp>
    <dsp:sp modelId="{11BD29A7-B409-4CE0-9604-ED51E5F10AE0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7FDEE4-B9F7-4DEB-8835-1589B5377423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Inspection grading may not fully reflect real-time risk</a:t>
          </a:r>
        </a:p>
      </dsp:txBody>
      <dsp:txXfrm>
        <a:off x="2898129" y="2435142"/>
        <a:ext cx="2399612" cy="720000"/>
      </dsp:txXfrm>
    </dsp:sp>
    <dsp:sp modelId="{46D36E15-3A3A-4363-BFF3-58DD3142E0A1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1CE420-562F-477C-AA3C-8E891F7B9D88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More compliance is needed</a:t>
          </a:r>
        </a:p>
      </dsp:txBody>
      <dsp:txXfrm>
        <a:off x="5717674" y="2435142"/>
        <a:ext cx="239961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1850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A38C8-D70B-896F-F860-D0AFE2969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40F911-EB74-0244-6E3A-73D44632DE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4B3415-989D-BC2F-960D-BADBF0AC62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B26B24-8FCF-9EA9-F0B7-C333B5D63D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70271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3F897-4489-323E-7D2C-9E24699C6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6B6D83-F1FD-21E1-AB1E-B7DEDD5DFE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74E19D-DE31-88F7-602C-49789149CA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64010-234B-F120-9D1D-EF04A3C0F3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72973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222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cityofnewyork.us/Health/DOHMH-New-York-City-Restaurant-Inspection-Results/43nn-pn8j/about_data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200" dirty="0">
                <a:solidFill>
                  <a:srgbClr val="FFFFFF"/>
                </a:solidFill>
              </a:rPr>
              <a:t>NYC Restaurant Inspection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3000" dirty="0"/>
              <a:t>Understanding Food Safety Patterns</a:t>
            </a:r>
          </a:p>
          <a:p>
            <a:pPr>
              <a:lnSpc>
                <a:spcPct val="90000"/>
              </a:lnSpc>
            </a:pPr>
            <a:endParaRPr lang="en-US" sz="3000" dirty="0"/>
          </a:p>
          <a:p>
            <a:pPr algn="r">
              <a:lnSpc>
                <a:spcPct val="90000"/>
              </a:lnSpc>
            </a:pPr>
            <a:r>
              <a:rPr lang="en-US" sz="3000" dirty="0"/>
              <a:t>	</a:t>
            </a:r>
            <a:r>
              <a:rPr lang="en-US" sz="2000" dirty="0"/>
              <a:t>Prepared by Elena Daniels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Analyze restaurant inspection outcomes across NYC from 2023 to 2025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Identify patterns in violation severity, cuisine type, and grading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Evaluate whether inspection grades reflect actual food safety risk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193400"/>
            <a:ext cx="7293023" cy="4116276"/>
          </a:xfrm>
        </p:spPr>
        <p:txBody>
          <a:bodyPr anchor="ctr">
            <a:normAutofit/>
          </a:bodyPr>
          <a:lstStyle/>
          <a:p>
            <a:r>
              <a:rPr lang="en-US" sz="2000" dirty="0"/>
              <a:t>Source: NYC Department of Health and Mental Hygiene (NYC Open Data) </a:t>
            </a:r>
            <a:r>
              <a:rPr lang="en-US" sz="2000" dirty="0">
                <a:hlinkClick r:id="rId3"/>
              </a:rPr>
              <a:t>https://data.cityofnewyork.us/Health/DOHMH-New-York-City-Restaurant-Inspection-Results/43nn-pn8j/about_data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~300,000 inspection records</a:t>
            </a:r>
          </a:p>
          <a:p>
            <a:r>
              <a:rPr lang="en-US" sz="2000" dirty="0"/>
              <a:t>~26,000 unique restaurants| ~90 cuisine types</a:t>
            </a:r>
          </a:p>
          <a:p>
            <a:endParaRPr lang="en-US" sz="2000" dirty="0"/>
          </a:p>
          <a:p>
            <a:r>
              <a:rPr lang="en-US" sz="2000" dirty="0"/>
              <a:t>The dataset is updated daily and contains current inspection data for permitted restaurants and college cafeterias (hereafter, restaurants) in NYC for the past several years.	 		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C03053-3CCB-BB44-957C-CC68DFE46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93AEF1-DFBE-934E-B2CE-3F3DB9F16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2"/>
                </a:solidFill>
              </a:rPr>
              <a:t>Data Cleaning &amp; Preparation</a:t>
            </a:r>
            <a:endParaRPr lang="en-US" sz="3500" dirty="0">
              <a:solidFill>
                <a:schemeClr val="bg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137381-8310-D3B3-9C76-B458CD364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512" y="3865947"/>
            <a:ext cx="8498007" cy="2209484"/>
          </a:xfrm>
          <a:prstGeom prst="rect">
            <a:avLst/>
          </a:prstGeom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1144794D-E02D-8A9A-6829-513E6C7D42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23975" y="1770891"/>
            <a:ext cx="7463390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Removed unnecessary columns to focus the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Eliminated records with invalid placeholder dates (e.g.,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1900-01-01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Extracted inspection year for time-based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Filtered out records with missing or invalid borough values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Renamed columns for clarity and consistency </a:t>
            </a:r>
          </a:p>
        </p:txBody>
      </p:sp>
    </p:spTree>
    <p:extLst>
      <p:ext uri="{BB962C8B-B14F-4D97-AF65-F5344CB8AC3E}">
        <p14:creationId xmlns:p14="http://schemas.microsoft.com/office/powerpoint/2010/main" val="1957881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86C20B-F73E-0F27-63EC-1A8A61668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0ED5F47-AD5D-9DF7-8033-B8F386ADF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FE8D94-19D5-1111-4772-2801FB53E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7BF41C-B54A-5901-314F-10D4F1439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427F23-57CD-1B7F-770B-35F7996EE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6871FA-DC85-6ECF-84E9-3D1CD5DA2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dirty="0">
                <a:solidFill>
                  <a:srgbClr val="FFFFFF"/>
                </a:solidFill>
              </a:rPr>
              <a:t>Violation Class Distribution (Overall)</a:t>
            </a:r>
            <a:endParaRPr 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23500B4F-CC5C-CE0F-249A-3B0271531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84" y="2143568"/>
            <a:ext cx="5074663" cy="459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87E589-DD33-14D1-FA91-17AE16BAC3D7}"/>
              </a:ext>
            </a:extLst>
          </p:cNvPr>
          <p:cNvSpPr txBox="1"/>
          <p:nvPr/>
        </p:nvSpPr>
        <p:spPr>
          <a:xfrm>
            <a:off x="5413472" y="1760660"/>
            <a:ext cx="3382719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NYC Inspection Scoring System</a:t>
            </a:r>
          </a:p>
          <a:p>
            <a:pPr algn="ctr"/>
            <a:endParaRPr lang="en-US" sz="1500" b="1" dirty="0"/>
          </a:p>
          <a:p>
            <a:r>
              <a:rPr lang="en-US" sz="1500" b="1" dirty="0"/>
              <a:t>Critical Violations (5-7 points each)</a:t>
            </a:r>
          </a:p>
          <a:p>
            <a:r>
              <a:rPr lang="en-US" sz="1500" dirty="0"/>
              <a:t>Major food safety risks that can directly contribute to foodborne illness: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Food not cooked to required minimum temperature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Hot/cold food not held at proper temperature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Evidence of mice or live roaches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Food from unapproved or unknown source</a:t>
            </a:r>
          </a:p>
          <a:p>
            <a:endParaRPr lang="en-US" sz="1500" b="1" dirty="0"/>
          </a:p>
          <a:p>
            <a:r>
              <a:rPr lang="en-US" sz="1500" b="1" dirty="0"/>
              <a:t>General Violations (2-4 points each)</a:t>
            </a:r>
          </a:p>
          <a:p>
            <a:r>
              <a:rPr lang="en-US" sz="1500" dirty="0"/>
              <a:t>Less serious issues that can indirectly affect food safety: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Improper cleaning of utensils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Insufficient lighting or ventilation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Failure to properly post signs or permits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Minor maintenance issues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3238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Violation Trends Over Time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F4649BC-49BF-B148-251E-E79C1D00A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69" y="1863016"/>
            <a:ext cx="7971548" cy="4746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Violation Distribution by Borough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07CA4DC-ACDD-4BA5-C58C-7B728733A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250" y="1820392"/>
            <a:ext cx="8044476" cy="4790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Cuisine Analysis (Lowest Critical Violation Rates)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B7CB627-6EA9-5AAF-CF79-1FEBFB4600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412" y="2421637"/>
            <a:ext cx="8709175" cy="3810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dirty="0">
                <a:solidFill>
                  <a:schemeClr val="bg2"/>
                </a:solidFill>
              </a:rPr>
              <a:t>Are Grade “A” Restaurants Actually Safe?</a:t>
            </a:r>
            <a:endParaRPr lang="en-US" sz="3500" kern="1200" dirty="0">
              <a:solidFill>
                <a:schemeClr val="bg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269D6A-8397-2B82-5A25-FD60EBB80CFC}"/>
              </a:ext>
            </a:extLst>
          </p:cNvPr>
          <p:cNvSpPr txBox="1"/>
          <p:nvPr/>
        </p:nvSpPr>
        <p:spPr>
          <a:xfrm>
            <a:off x="6047383" y="2513198"/>
            <a:ext cx="26197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Food Safety Grade System</a:t>
            </a:r>
          </a:p>
          <a:p>
            <a:endParaRPr lang="en-US" dirty="0"/>
          </a:p>
          <a:p>
            <a:r>
              <a:rPr lang="en-US" b="1" u="sng" dirty="0"/>
              <a:t>Grade A</a:t>
            </a:r>
            <a:r>
              <a:rPr lang="en-US" dirty="0"/>
              <a:t> (0-13 points)</a:t>
            </a:r>
          </a:p>
          <a:p>
            <a:r>
              <a:rPr lang="en-US" dirty="0"/>
              <a:t>Excellent</a:t>
            </a:r>
          </a:p>
          <a:p>
            <a:endParaRPr lang="en-US" dirty="0"/>
          </a:p>
          <a:p>
            <a:r>
              <a:rPr lang="en-US" b="1" u="sng" dirty="0"/>
              <a:t>Grade B</a:t>
            </a:r>
            <a:r>
              <a:rPr lang="en-US" dirty="0"/>
              <a:t> (14-27 points)</a:t>
            </a:r>
          </a:p>
          <a:p>
            <a:r>
              <a:rPr lang="en-US" dirty="0"/>
              <a:t>Good</a:t>
            </a:r>
          </a:p>
          <a:p>
            <a:endParaRPr lang="en-US" dirty="0"/>
          </a:p>
          <a:p>
            <a:r>
              <a:rPr lang="en-US" b="1" u="sng" dirty="0"/>
              <a:t>Grade C</a:t>
            </a:r>
            <a:r>
              <a:rPr lang="en-US" dirty="0"/>
              <a:t> (28+ points) </a:t>
            </a:r>
          </a:p>
          <a:p>
            <a:r>
              <a:rPr lang="en-US" dirty="0"/>
              <a:t>Poor</a:t>
            </a:r>
          </a:p>
          <a:p>
            <a:endParaRPr lang="en-US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34530BF3-EBA4-A7C2-27D5-924B127BC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05" y="1968900"/>
            <a:ext cx="5610225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Most inspections result in at least one violation</a:t>
            </a:r>
          </a:p>
          <a:p>
            <a:r>
              <a:rPr lang="en-US" sz="2000" dirty="0"/>
              <a:t>Critical violations occur in ~50% of inspections</a:t>
            </a:r>
          </a:p>
          <a:p>
            <a:r>
              <a:rPr lang="en-US" sz="2000" dirty="0"/>
              <a:t>Patterns consistent across boroughs and years</a:t>
            </a:r>
          </a:p>
          <a:p>
            <a:r>
              <a:rPr lang="en-US" sz="2000" dirty="0"/>
              <a:t>Food safety challenges are not dependent on cuisine types</a:t>
            </a:r>
          </a:p>
          <a:p>
            <a:r>
              <a:rPr lang="en-US" sz="2000" dirty="0"/>
              <a:t>Grade A </a:t>
            </a:r>
            <a:r>
              <a:rPr lang="en-US" sz="2000" u="sng" dirty="0"/>
              <a:t>does not</a:t>
            </a:r>
            <a:r>
              <a:rPr lang="en-US" sz="2000" dirty="0"/>
              <a:t> guarantee food safety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837C807E-D3BC-58EA-86EF-4A55BEAA39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458184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11456</TotalTime>
  <Words>379</Words>
  <Application>Microsoft Office PowerPoint</Application>
  <PresentationFormat>On-screen Show (4:3)</PresentationFormat>
  <Paragraphs>64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NYC Restaurant Inspection Analysis</vt:lpstr>
      <vt:lpstr>Objective</vt:lpstr>
      <vt:lpstr>Dataset Overview</vt:lpstr>
      <vt:lpstr>Data Cleaning &amp; Preparation</vt:lpstr>
      <vt:lpstr>Violation Class Distribution (Overall)</vt:lpstr>
      <vt:lpstr>Violation Trends Over Time</vt:lpstr>
      <vt:lpstr>Violation Distribution by Borough</vt:lpstr>
      <vt:lpstr>Cuisine Analysis (Lowest Critical Violation Rates)</vt:lpstr>
      <vt:lpstr>Are Grade “A” Restaurants Actually Safe?</vt:lpstr>
      <vt:lpstr>Key Findings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Elena Daniels</dc:creator>
  <cp:keywords/>
  <dc:description>generated using python-pptx</dc:description>
  <cp:lastModifiedBy>Edgar Daniels</cp:lastModifiedBy>
  <cp:revision>30</cp:revision>
  <dcterms:created xsi:type="dcterms:W3CDTF">2013-01-27T09:14:16Z</dcterms:created>
  <dcterms:modified xsi:type="dcterms:W3CDTF">2026-05-13T00:17:15Z</dcterms:modified>
  <cp:category/>
</cp:coreProperties>
</file>